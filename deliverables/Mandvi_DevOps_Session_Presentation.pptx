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9FC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MANDVI EDUCATION SOCIETY - MCA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 in Production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4290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Git, IaC, Docker, and the Architecture Behind Scale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4572000"/>
            <a:ext cx="2926080" cy="18288"/>
          </a:xfrm>
          <a:prstGeom prst="rect">
            <a:avLst/>
          </a:prstGeom>
          <a:solidFill>
            <a:srgbClr val="2A4B8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8463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B9D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Person: Dhruv Hemanthbhai Patel  |  DevOps Engineer at Raapid Inc.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B9D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September  |  12:00 PM  |  Computer Lab - B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B9D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Affiliated to GTU Ahmedabad, Approved by AICTE, New Delhi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Plan - 2 Hours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EAF3FB"/>
          </a:solidFill>
          <a:ln w="19050">
            <a:solidFill>
              <a:srgbClr val="1F6F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Docker + Git, the manual way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47088"/>
            <a:ext cx="10378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tag, and push an image by hand - and feel why that doesn't scale.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502920" cy="502920"/>
          </a:xfrm>
          <a:prstGeom prst="ellipse">
            <a:avLst/>
          </a:prstGeom>
          <a:solidFill>
            <a:srgbClr val="EAF3FB"/>
          </a:solidFill>
          <a:ln w="19050">
            <a:solidFill>
              <a:srgbClr val="1F6F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60604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GitHub Actions - CI then CD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944368"/>
            <a:ext cx="10378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build/push, then deploy it back to your own machine.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EAF3FB"/>
          </a:solidFill>
          <a:ln w="19050">
            <a:solidFill>
              <a:srgbClr val="1F6F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70332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Jenkins - the same pipeline, a different tool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041648"/>
            <a:ext cx="10378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Freestyle job, one shell script, CI and CD together.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502920" cy="502920"/>
          </a:xfrm>
          <a:prstGeom prst="ellipse">
            <a:avLst/>
          </a:prstGeom>
          <a:solidFill>
            <a:srgbClr val="EAF3FB"/>
          </a:solidFill>
          <a:ln w="19050">
            <a:solidFill>
              <a:srgbClr val="1F6F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846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80060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Showcase: Production concepts at scale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138928"/>
            <a:ext cx="10378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Terraform, Managed Identity, event-driven architecture, Kubernetes autoscaling.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Refresher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- tracks every change to your code, forever, with full history.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- hosts your Git repository, plus automation (Actions) around it.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- packages your app + everything it needs to run into one portable image.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(Continuous Integration) - automatically build and test on every push.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(Continuous Deployment) - automatically ship the new build somewhere it runs.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Building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EAF3FB"/>
          </a:solidFill>
          <a:ln w="15875">
            <a:solidFill>
              <a:srgbClr val="1F6F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3774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(Flask app)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606040" y="237744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EAF3FB"/>
          </a:solidFill>
          <a:ln w="15875">
            <a:solidFill>
              <a:srgbClr val="1F6F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3774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(git push)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237744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EAF3FB"/>
          </a:solidFill>
          <a:ln w="15875">
            <a:solidFill>
              <a:srgbClr val="1F6F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54880" y="23774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(build + push)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903720" y="237744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EAF3FB"/>
          </a:solidFill>
          <a:ln w="15875">
            <a:solidFill>
              <a:srgbClr val="1F6F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23774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Hub (image registry)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0" y="237744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EAF3FB"/>
          </a:solidFill>
          <a:ln w="15875">
            <a:solidFill>
              <a:srgbClr val="1F6F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052560" y="23774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Runner (your laptop - deploy)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395728" y="2880360"/>
            <a:ext cx="192024" cy="182880"/>
          </a:xfrm>
          <a:prstGeom prst="rightArrow">
            <a:avLst/>
          </a:prstGeom>
          <a:solidFill>
            <a:srgbClr val="1F6FD8"/>
          </a:solidFill>
          <a:ln/>
        </p:spPr>
      </p:sp>
      <p:sp>
        <p:nvSpPr>
          <p:cNvPr id="15" name="Shape 13"/>
          <p:cNvSpPr/>
          <p:nvPr/>
        </p:nvSpPr>
        <p:spPr>
          <a:xfrm>
            <a:off x="4544568" y="2880360"/>
            <a:ext cx="192024" cy="182880"/>
          </a:xfrm>
          <a:prstGeom prst="rightArrow">
            <a:avLst/>
          </a:prstGeom>
          <a:solidFill>
            <a:srgbClr val="1F6FD8"/>
          </a:solidFill>
          <a:ln/>
        </p:spPr>
      </p:sp>
      <p:sp>
        <p:nvSpPr>
          <p:cNvPr id="16" name="Shape 14"/>
          <p:cNvSpPr/>
          <p:nvPr/>
        </p:nvSpPr>
        <p:spPr>
          <a:xfrm>
            <a:off x="6693408" y="2880360"/>
            <a:ext cx="192024" cy="182880"/>
          </a:xfrm>
          <a:prstGeom prst="rightArrow">
            <a:avLst/>
          </a:prstGeom>
          <a:solidFill>
            <a:srgbClr val="1F6FD8"/>
          </a:solidFill>
          <a:ln/>
        </p:spPr>
      </p:sp>
      <p:sp>
        <p:nvSpPr>
          <p:cNvPr id="17" name="Shape 15"/>
          <p:cNvSpPr/>
          <p:nvPr/>
        </p:nvSpPr>
        <p:spPr>
          <a:xfrm>
            <a:off x="8842248" y="2880360"/>
            <a:ext cx="192024" cy="182880"/>
          </a:xfrm>
          <a:prstGeom prst="rightArrow">
            <a:avLst/>
          </a:prstGeom>
          <a:solidFill>
            <a:srgbClr val="1F6FD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4206240"/>
            <a:ext cx="6309360" cy="1188720"/>
          </a:xfrm>
          <a:prstGeom prst="roundRect">
            <a:avLst>
              <a:gd name="adj" fmla="val 4615"/>
            </a:avLst>
          </a:prstGeom>
          <a:solidFill>
            <a:srgbClr val="FDF3E3"/>
          </a:solidFill>
          <a:ln w="15875">
            <a:solidFill>
              <a:srgbClr val="C9922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26080" y="420624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5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(native, on this same laptop) One shell script: build -&gt; push -&gt; redeploy -&gt; smoke test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tools, same pattern: build -&gt; push -&gt; deploy -&gt; verify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CODING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We'll Ship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3949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Flask app - three routes: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 - branded HTML status page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  - the same data as JSON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  - plain health check (used by automation)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container hostname + request count - proves each deploy is a fresh container.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1554480"/>
            <a:ext cx="5394960" cy="4572000"/>
          </a:xfrm>
          <a:prstGeom prst="roundRect">
            <a:avLst>
              <a:gd name="adj" fmla="val 1600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3736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python:3.12-slim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requirements first = better layer caching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requirements.txt 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--no-cache-dir \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-r requirements.txt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app.py 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useradd -m appuser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appuser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 APP_ENV=docker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5000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["python", "app.py"]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MANUAL PAIN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We Automate Anything...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1E1E1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 -t devops-session-app:local .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login -u &lt;username&gt;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(paste Access Token as password)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tag devops-session-app:local \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&lt;username&gt;/devops-session-app:manual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 \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&lt;username&gt;/devops-session-app:manual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554480"/>
            <a:ext cx="53949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steps, by hand,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single time you change one line of code.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a step, or typo a tag, and you ship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image without knowing it.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what CI/CD removes.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5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68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8FB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9260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Actions - Continuous Integration</a:t>
            </a:r>
            <a:endParaRPr lang="en-US" sz="3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- CI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CI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852160" cy="4572000"/>
          </a:xfrm>
          <a:prstGeom prst="roundRect">
            <a:avLst>
              <a:gd name="adj" fmla="val 1600"/>
            </a:avLst>
          </a:prstGeom>
          <a:solidFill>
            <a:srgbClr val="1E1E1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push: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branches: [main]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build-and-push: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docker/login-action@v3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username: ${{ secrets.DOCKERHUB_USERNAME }}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password: ${{ secrets.DOCKERHUB_TOKEN }}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build -t $USER/app:$SHA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-t $USER/app:latest .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push $USER/app:$SHA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push $USER/app:latest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554480"/>
            <a:ext cx="49377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on every push to main.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secrets, never in plain YAML: DOCKERHUB_USERNAME, DOCKERHUB_TOKEN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tags: commit SHA (traceable) and latest (moving pointer).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on GitHub's own cloud runner.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- CD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CD Needs Something Extra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GitHub's cloud runner is thrown away the second the CI job finishes.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host a long-running app - it simply won't exist five minutes later.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Self-Hosted Runner solves this: a small program YOU run, on YOUR OWN machine, registered to your repo.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deploy job targets it, it really runs on your machine - and anything it starts keeps running.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- CD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Registering and Using the Runner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1E1E1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./config.sh --url &lt;repo-url&gt; \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--token &lt;TOKEN&gt; \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--name laptop-runner \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--labels self-hosted,docker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./svc.sh install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./svc.sh start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 the workflow: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deploy: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needs: build-and-push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[self-hosted, docker]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554480"/>
            <a:ext cx="53949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registration token from Settings -&gt; Actions -&gt; Runners.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job: pull latest image, restart the container, smoke-test it.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test retries for ~20s - a fresh container needs a moment to start before it answers.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5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68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8FB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9260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Jenkins - Same Pipeline, Different Tool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Install - No Docker-in-Docker Needed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1E1E1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wget https://updates.jenkins.io/\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download/war/2.581/jenkins.war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nohup java -jar \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jenkins.war \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--httpListenAddress=127.0.0.1 \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--httpPort=8081 --prefix=/ &amp;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554480"/>
            <a:ext cx="53949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directly on the laptop - your user account already has Docker access.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already in use? Just pick a different --httpPort.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Freestyle job. Source Code Management: None - the script clones its own fresh copy every run.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"Execute shell" build step does everything.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Script: CI + CD Together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035040" cy="4572000"/>
          </a:xfrm>
          <a:prstGeom prst="roundRect">
            <a:avLst>
              <a:gd name="adj" fmla="val 1600"/>
            </a:avLst>
          </a:prstGeom>
          <a:solidFill>
            <a:srgbClr val="1E1E1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5778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-e   # stop at the FIRST failure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$REPO_URL repo &amp;&amp; cd repo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"$TOKEN" | docker login -u "$USER" \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--password-stdin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 -t $IMAGE:$TAG .      # CI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 $IMAGE:$TAG            # CI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rm -f app-live || true      # CD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-d --name app-live \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-p 5070:5000 $IMAGE:latest       # CD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-sf localhost:5070/health     # verify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858000" y="1554480"/>
            <a:ext cx="47548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-e = fail-fast, on purpose.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build/push fails, deploy never runs - a broken image is never redeployed over a working one.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plain export for credentials here (simple, but visible in job config) - Jenkins' own encrypted Credentials store is the safer production pattern.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68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8FB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SHOWCASE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9260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Let's See This at Real Production Scale</a:t>
            </a:r>
            <a:endParaRPr lang="en-US" sz="3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as Code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Clicking through a cloud portal is slow, unrepeatable, and undocumented.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Terraform file is a single reviewable, version-controlled source of truth.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init - download provider plugins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plan - dry run: what WOULD change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 - actually make the change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State, Locking, Drift, and "Must Be Replaced"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EAF3FB"/>
          </a:solidFill>
          <a:ln w="19050">
            <a:solidFill>
              <a:srgbClr val="1F6F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file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47088"/>
            <a:ext cx="10378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Terraform's record of what it believes exists - without it, every apply would try to build everything from scratch.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502920" cy="502920"/>
          </a:xfrm>
          <a:prstGeom prst="ellipse">
            <a:avLst/>
          </a:prstGeom>
          <a:solidFill>
            <a:srgbClr val="EAF3FB"/>
          </a:solidFill>
          <a:ln w="19050">
            <a:solidFill>
              <a:srgbClr val="1F6F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56032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locking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898648"/>
            <a:ext cx="10378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two applies writing the state file at once. "Error acquiring the lock" = the safety net working, not a bug.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AF3FB"/>
          </a:solidFill>
          <a:ln w="19050">
            <a:solidFill>
              <a:srgbClr val="1F6F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61188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950208"/>
            <a:ext cx="10378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changes a resource outside Terraform (e.g. in the Portal) - plan detects the mismatch.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709160"/>
            <a:ext cx="502920" cy="502920"/>
          </a:xfrm>
          <a:prstGeom prst="ellipse">
            <a:avLst/>
          </a:prstGeom>
          <a:solidFill>
            <a:srgbClr val="EAF3FB"/>
          </a:solidFill>
          <a:ln w="19050">
            <a:solidFill>
              <a:srgbClr val="1F6F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709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66344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"Must be replaced"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001768"/>
            <a:ext cx="10378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properties can't change in-place - Terraform destroys and recreates. On a database or storage account: stop and think before approving.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Passwords, Zero Connection Strings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secrets scattered everywhere - in config files, env vars, scripts.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idea: the cloud resource itself HAS an identity - it authenticates as itself.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Live-validated today: a container with ZERO stored credentials logged in using only its attached identity...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...and successfully uploaded a real file to Azure Blob Storage. No password, no connection string, anywhere.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File Lands. Something Reacts. Automatically.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194560" cy="1188720"/>
          </a:xfrm>
          <a:prstGeom prst="roundRect">
            <a:avLst>
              <a:gd name="adj" fmla="val 4615"/>
            </a:avLst>
          </a:prstGeom>
          <a:solidFill>
            <a:srgbClr val="EAF3FB"/>
          </a:solidFill>
          <a:ln w="15875">
            <a:solidFill>
              <a:srgbClr val="1F6F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Uploaded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63240" y="2194560"/>
            <a:ext cx="2194560" cy="1188720"/>
          </a:xfrm>
          <a:prstGeom prst="roundRect">
            <a:avLst>
              <a:gd name="adj" fmla="val 4615"/>
            </a:avLst>
          </a:prstGeom>
          <a:solidFill>
            <a:srgbClr val="EAF3FB"/>
          </a:solidFill>
          <a:ln w="15875">
            <a:solidFill>
              <a:srgbClr val="1F6F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63240" y="2194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Grid (BlobCreated)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577840" y="2194560"/>
            <a:ext cx="2194560" cy="1188720"/>
          </a:xfrm>
          <a:prstGeom prst="roundRect">
            <a:avLst>
              <a:gd name="adj" fmla="val 4615"/>
            </a:avLst>
          </a:prstGeom>
          <a:solidFill>
            <a:srgbClr val="EAF3FB"/>
          </a:solidFill>
          <a:ln w="15875">
            <a:solidFill>
              <a:srgbClr val="1F6F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577840" y="2194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Queue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2440" y="2194560"/>
            <a:ext cx="2194560" cy="1188720"/>
          </a:xfrm>
          <a:prstGeom prst="roundRect">
            <a:avLst>
              <a:gd name="adj" fmla="val 4615"/>
            </a:avLst>
          </a:prstGeom>
          <a:solidFill>
            <a:srgbClr val="EAF3FB"/>
          </a:solidFill>
          <a:ln w="15875">
            <a:solidFill>
              <a:srgbClr val="1F6F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92440" y="2194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(processes file)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70632" y="2688336"/>
            <a:ext cx="265176" cy="201168"/>
          </a:xfrm>
          <a:prstGeom prst="rightArrow">
            <a:avLst/>
          </a:prstGeom>
          <a:solidFill>
            <a:srgbClr val="1F6FD8"/>
          </a:solidFill>
          <a:ln/>
        </p:spPr>
      </p:sp>
      <p:sp>
        <p:nvSpPr>
          <p:cNvPr id="13" name="Shape 11"/>
          <p:cNvSpPr/>
          <p:nvPr/>
        </p:nvSpPr>
        <p:spPr>
          <a:xfrm>
            <a:off x="5285232" y="2688336"/>
            <a:ext cx="265176" cy="201168"/>
          </a:xfrm>
          <a:prstGeom prst="rightArrow">
            <a:avLst/>
          </a:prstGeom>
          <a:solidFill>
            <a:srgbClr val="1F6FD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99832" y="2688336"/>
            <a:ext cx="265176" cy="201168"/>
          </a:xfrm>
          <a:prstGeom prst="rightArrow">
            <a:avLst/>
          </a:prstGeom>
          <a:solidFill>
            <a:srgbClr val="1F6F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Live-validated today: a text file uploaded to blob storage triggered an Event Grid notification, landed in a Storage Queue, and a small consumer script picked it up, transformed it, and wrote the result to a separate container - fully automatically, in under 15 seconds.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that powers real ingestion pipelines - e.g. a document lands, OCR processing kicks off automatically.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AUTOSCALING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2 Million Pages Need Processing..."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852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...each service should scale to meet that load, automatically.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HorizontalPodAutoscaler watches real CPU/memory metrics per pod.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the target utilization, and Kubernetes adds more worker pods.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drops, and it scales back down (with a deliberate delay, so it doesn't flap up and down).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92240" y="2286000"/>
            <a:ext cx="4937760" cy="2011680"/>
          </a:xfrm>
          <a:prstGeom prst="roundRect">
            <a:avLst>
              <a:gd name="adj" fmla="val 3636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720840" y="246888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get hpa -w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TARGETS      REPLICAS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page-processor   250%/50%     1 -&gt; 10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live demo: watch pods scale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get pods -w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BIGGER PICTURE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These Three Pieces Connect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EAF3FB"/>
          </a:solidFill>
          <a:ln w="19050">
            <a:solidFill>
              <a:srgbClr val="1F6F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- the foundation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47088"/>
            <a:ext cx="10378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Literally provisioned everything underneath: the resource group, VNet, storage account (containers + queue), the Managed Identity + RBAC role, and the Event Grid topic/subscription. Its job is purely building the plumbing.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EAF3FB"/>
          </a:solidFill>
          <a:ln w="19050">
            <a:solidFill>
              <a:srgbClr val="1F6F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92608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pipeline - the trigger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64408"/>
            <a:ext cx="10378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directly ON that Terraform-built plumbing - a real, tested, live chain: upload -&gt; BlobCreated event -&gt; Event Grid -&gt; Queue -&gt; consumer script -&gt; result in a separate container. Every arrow was proven live, end to end.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502920" cy="502920"/>
          </a:xfrm>
          <a:prstGeom prst="ellipse">
            <a:avLst/>
          </a:prstGeom>
          <a:solidFill>
            <a:srgbClr val="EAF3FB"/>
          </a:solidFill>
          <a:ln w="19050">
            <a:solidFill>
              <a:srgbClr val="1F6F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34340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scaling - the multiplier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681728"/>
            <a:ext cx="10378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SEPARATE, standalone demo on a local kind cluster - not literally wired into the Azure pipeline above. It illustrates the concept: what happens to "the processing step" when volume goes from a trickle to 2 million pages.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BIGGER PICTURE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Proven Building Blocks to One System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single consumer.py script is one worker - fine for a trickle of files, but it processes one file at a time and would fall permanently behind 2 million pages landing in the queue at once.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natural next step (not built today): replace that one script with a Kubernetes Deployment - many identical pod replicas polling the SAME Azure Storage Queue directly, authenticating with the SAME Managed Identity, no secrets anywhere.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HorizontalPodAutoscaler then adds pod replicas as queue depth or CPU load rises, so many pages get pulled and processed in parallel - and scales back down once the backlog clears.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EAF3FB"/>
          </a:solidFill>
          <a:ln w="15875">
            <a:solidFill>
              <a:srgbClr val="1F6F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build the infrastructure reliably.   </a:t>
            </a:r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architecture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pick up and process one job automatically.   </a:t>
            </a:r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scaling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multiply that step to handle real volume, elastically.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proven building blocks today - one production system when wired together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(NO LIVE DEMO)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More Production Realities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EAF3FB"/>
          </a:solidFill>
          <a:ln w="19050">
            <a:solidFill>
              <a:srgbClr val="1F6F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Azure AD (passwordless) authentication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47088"/>
            <a:ext cx="10378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hardcoded database password is a leak waiting to happen. Azure AD-based auth removes the password from the equation entirely - same idea as Managed Identity, applied to a database connection.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502920" cy="502920"/>
          </a:xfrm>
          <a:prstGeom prst="ellipse">
            <a:avLst/>
          </a:prstGeom>
          <a:solidFill>
            <a:srgbClr val="EAF3FB"/>
          </a:solidFill>
          <a:ln w="19050">
            <a:solidFill>
              <a:srgbClr val="1F6F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97180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connection exhaustion at scale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310128"/>
            <a:ext cx="10378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 pool sized for normal traffic can pin a database's CPU at 100% during a spike - and take down a completely unrelated service that happens to share that database. Capacity planning is a production skill, not an afterthought.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Built Today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Dockerized Flask app, pushed to Docker Hub by hand and understood why that doesn't scale.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GitHub Actions pipeline: CI (build+push) and CD (deploy via your own self-hosted runner).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Jenkins Freestyle job doing the same CI+CD, natively, in one shell script.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Watched real production concepts live: Terraform, Managed Identity, event-driven architecture, and Kubernetes autoscaling.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Going After Today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today - app code, workflows, Jenkins script, Terraform, Kubernetes manifests - is in the shared GitHub repository.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Hands-On Guide walks through every step again, with every command, so you can redo this on your own, anytime.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B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Kubernetes autoscaling section yourself - it costs nothing and needs no cloud account.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Mandvi Education Society - MCA  |  DevOps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81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120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9FC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Mandvi Education Society, At &amp; Post Mandvi, Dis-Surat, Gujarat, 394160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9FC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WhatsApp: +91-84600 82200   |   www.mestech.ac.in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2026-09-18T12:57:13Z</dcterms:created>
  <dcterms:modified xsi:type="dcterms:W3CDTF">2026-09-18T12:57:13Z</dcterms:modified>
</cp:coreProperties>
</file>